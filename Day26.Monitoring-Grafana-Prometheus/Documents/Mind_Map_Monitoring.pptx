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354300" cy="15011400"/>
  <p:notesSz cx="15011400" cy="153543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354300" cy="15011400"/>
          </a:xfrm>
          <a:prstGeom prst="rect">
            <a:avLst/>
          </a:prstGeom>
          <a:gradFill rotWithShape="1">
            <a:gsLst>
              <a:gs pos="0">
                <a:srgbClr val="FAF9F5">
                  <a:alpha val="100000"/>
                </a:srgbClr>
              </a:gs>
              <a:gs pos="70000">
                <a:srgbClr val="F1EFE8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6611094" y="533400"/>
            <a:ext cx="2132037" cy="2905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73019" y="645319"/>
            <a:ext cx="66675" cy="66675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934944" y="609600"/>
            <a:ext cx="1722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spc="113" kern="0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26 · SƠ ĐỒ TƯ DUY</a:t>
            </a:r>
            <a:endParaRPr lang="en-US" sz="938" dirty="0"/>
          </a:p>
        </p:txBody>
      </p:sp>
      <p:sp>
        <p:nvSpPr>
          <p:cNvPr id="6" name="Text 4"/>
          <p:cNvSpPr/>
          <p:nvPr/>
        </p:nvSpPr>
        <p:spPr>
          <a:xfrm>
            <a:off x="-180975" y="995363"/>
            <a:ext cx="157162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spc="-37" kern="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— Giám sát hệ thống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4635818" y="1504950"/>
            <a:ext cx="608266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C6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kiến thức bài học gói gọn trong một bản đồ — kèm ví dụ thực tế cho từng nhánh.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2396430"/>
            <a:ext cx="14287500" cy="115812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2150" y="2585740"/>
            <a:ext cx="4095750" cy="2804071"/>
          </a:xfrm>
          <a:prstGeom prst="roundRect">
            <a:avLst>
              <a:gd name="adj" fmla="val 4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28263C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62150" y="5380286"/>
            <a:ext cx="4095750" cy="9525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11" name="Shape 8"/>
          <p:cNvSpPr/>
          <p:nvPr/>
        </p:nvSpPr>
        <p:spPr>
          <a:xfrm>
            <a:off x="1962150" y="2585740"/>
            <a:ext cx="4095750" cy="38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9"/>
          <p:cNvSpPr/>
          <p:nvPr/>
        </p:nvSpPr>
        <p:spPr>
          <a:xfrm>
            <a:off x="1962150" y="2585740"/>
            <a:ext cx="9525" cy="2804071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48375" y="2585740"/>
            <a:ext cx="9525" cy="2804071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0275" y="283339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2162175" y="283339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38425" y="2892921"/>
            <a:ext cx="193629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 &amp; Mục đích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2200275" y="3290590"/>
            <a:ext cx="12226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2332062" y="3290590"/>
            <a:ext cx="359234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dõi, ghi nhận &amp; phân tích trạng thái, hiệu suất, hoạt động của hệ thống IT.</a:t>
            </a:r>
            <a:endParaRPr lang="en-US" sz="1088" dirty="0"/>
          </a:p>
        </p:txBody>
      </p:sp>
      <p:sp>
        <p:nvSpPr>
          <p:cNvPr id="19" name="Text 16"/>
          <p:cNvSpPr/>
          <p:nvPr/>
        </p:nvSpPr>
        <p:spPr>
          <a:xfrm>
            <a:off x="2200275" y="3790652"/>
            <a:ext cx="12226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2332062" y="3790652"/>
            <a:ext cx="35923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đích: giữ hệ thống ổn định, phát hiện sớm sự cố, xử lý nhanh, giảm </a:t>
            </a:r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</a:t>
            </a:r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88" dirty="0"/>
          </a:p>
        </p:txBody>
      </p:sp>
      <p:sp>
        <p:nvSpPr>
          <p:cNvPr id="21" name="Shape 18"/>
          <p:cNvSpPr/>
          <p:nvPr/>
        </p:nvSpPr>
        <p:spPr>
          <a:xfrm>
            <a:off x="2200275" y="4352627"/>
            <a:ext cx="3619500" cy="818108"/>
          </a:xfrm>
          <a:prstGeom prst="roundRect">
            <a:avLst>
              <a:gd name="adj" fmla="val 11643"/>
            </a:avLst>
          </a:prstGeom>
          <a:solidFill>
            <a:srgbClr val="EEEDFB"/>
          </a:solidFill>
          <a:ln/>
        </p:spPr>
      </p:sp>
      <p:sp>
        <p:nvSpPr>
          <p:cNvPr id="22" name="Text 19"/>
          <p:cNvSpPr/>
          <p:nvPr/>
        </p:nvSpPr>
        <p:spPr>
          <a:xfrm>
            <a:off x="2333625" y="4466927"/>
            <a:ext cx="3688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2333625" y="4638377"/>
            <a:ext cx="3453384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Giống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đo nhịp tim, huyết áp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phát hiện bệnh sớm — Monitoring "đo sức khoẻ" máy chủ liên tục.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962150" y="5923211"/>
            <a:ext cx="4095750" cy="4034433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28263C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962150" y="9948118"/>
            <a:ext cx="4095750" cy="9525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26" name="Shape 23"/>
          <p:cNvSpPr/>
          <p:nvPr/>
        </p:nvSpPr>
        <p:spPr>
          <a:xfrm>
            <a:off x="1962150" y="5923211"/>
            <a:ext cx="409575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Shape 24"/>
          <p:cNvSpPr/>
          <p:nvPr/>
        </p:nvSpPr>
        <p:spPr>
          <a:xfrm>
            <a:off x="1962150" y="5923211"/>
            <a:ext cx="9525" cy="4034433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28" name="Shape 25"/>
          <p:cNvSpPr/>
          <p:nvPr/>
        </p:nvSpPr>
        <p:spPr>
          <a:xfrm>
            <a:off x="6048375" y="5923211"/>
            <a:ext cx="9525" cy="4034433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29" name="Shape 26"/>
          <p:cNvSpPr/>
          <p:nvPr/>
        </p:nvSpPr>
        <p:spPr>
          <a:xfrm>
            <a:off x="2200275" y="6170861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D97706"/>
          </a:solidFill>
          <a:ln/>
        </p:spPr>
      </p:sp>
      <p:sp>
        <p:nvSpPr>
          <p:cNvPr id="30" name="Text 27"/>
          <p:cNvSpPr/>
          <p:nvPr/>
        </p:nvSpPr>
        <p:spPr>
          <a:xfrm>
            <a:off x="2162175" y="617086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638425" y="6230392"/>
            <a:ext cx="17039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loại Monitoring</a:t>
            </a:r>
            <a:endParaRPr lang="en-US" sz="1425" dirty="0"/>
          </a:p>
        </p:txBody>
      </p:sp>
      <p:sp>
        <p:nvSpPr>
          <p:cNvPr id="32" name="Text 29"/>
          <p:cNvSpPr/>
          <p:nvPr/>
        </p:nvSpPr>
        <p:spPr>
          <a:xfrm>
            <a:off x="2200275" y="6628061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CPU, RAM, ổ cứng, network I/O (máy chủ, thiết bị mạng).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2200275" y="7095679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thời gian phản hồi, lỗi HTTP, hiệu suất DB.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200275" y="7369969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băng thông, kết nối, lưu lượng dữ liệu.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200275" y="7644259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truy vấn, kết nối, dung lượng (MySQL, MongoDB…).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2200275" y="8111877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cài agent (Zabbix Agent, Node Exporter).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200275" y="8579495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Agentless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qua SNMP/SSH/HTTP, không cần cài.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200275" y="8920460"/>
            <a:ext cx="3619500" cy="818108"/>
          </a:xfrm>
          <a:prstGeom prst="roundRect">
            <a:avLst>
              <a:gd name="adj" fmla="val 11643"/>
            </a:avLst>
          </a:prstGeom>
          <a:solidFill>
            <a:srgbClr val="FCF1E0"/>
          </a:solidFill>
          <a:ln/>
        </p:spPr>
      </p:sp>
      <p:sp>
        <p:nvSpPr>
          <p:cNvPr id="39" name="Text 36"/>
          <p:cNvSpPr/>
          <p:nvPr/>
        </p:nvSpPr>
        <p:spPr>
          <a:xfrm>
            <a:off x="2333625" y="9034760"/>
            <a:ext cx="3688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B96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2333625" y="9206210"/>
            <a:ext cx="3453384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bán hàng bị chậm →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A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Monitoring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API thanh toán mất 5 giây để phản hồi.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962150" y="10491043"/>
            <a:ext cx="4095750" cy="3297287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28263C">
                <a:alpha val="3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1962150" y="13778805"/>
            <a:ext cx="4095750" cy="9525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43" name="Shape 40"/>
          <p:cNvSpPr/>
          <p:nvPr/>
        </p:nvSpPr>
        <p:spPr>
          <a:xfrm>
            <a:off x="1962150" y="10491043"/>
            <a:ext cx="4095750" cy="381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4" name="Shape 41"/>
          <p:cNvSpPr/>
          <p:nvPr/>
        </p:nvSpPr>
        <p:spPr>
          <a:xfrm>
            <a:off x="1962150" y="10491043"/>
            <a:ext cx="9525" cy="3297287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45" name="Shape 42"/>
          <p:cNvSpPr/>
          <p:nvPr/>
        </p:nvSpPr>
        <p:spPr>
          <a:xfrm>
            <a:off x="6048375" y="10491043"/>
            <a:ext cx="9525" cy="3297287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46" name="Shape 43"/>
          <p:cNvSpPr/>
          <p:nvPr/>
        </p:nvSpPr>
        <p:spPr>
          <a:xfrm>
            <a:off x="2200275" y="10738693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11D48"/>
          </a:solidFill>
          <a:ln/>
        </p:spPr>
      </p:sp>
      <p:sp>
        <p:nvSpPr>
          <p:cNvPr id="47" name="Text 44"/>
          <p:cNvSpPr/>
          <p:nvPr/>
        </p:nvSpPr>
        <p:spPr>
          <a:xfrm>
            <a:off x="2162175" y="1073869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638425" y="10786318"/>
            <a:ext cx="28611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phổ biến </a:t>
            </a:r>
            <a:pPr algn="l" indent="0" marL="0">
              <a:buNone/>
            </a:pPr>
            <a:r>
              <a:rPr lang="en-US" sz="1425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(Tech stack)</a:t>
            </a:r>
            <a:endParaRPr lang="en-US" sz="1425" dirty="0"/>
          </a:p>
        </p:txBody>
      </p:sp>
      <p:sp>
        <p:nvSpPr>
          <p:cNvPr id="49" name="Text 46"/>
          <p:cNvSpPr/>
          <p:nvPr/>
        </p:nvSpPr>
        <p:spPr>
          <a:xfrm>
            <a:off x="2200275" y="11195893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giám sát thời gian thực, hợp container &amp; microservices.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2200275" y="11663511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Zabbix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giám sát hệ thống, mạng &amp; ứng dụng rất mạnh.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2200275" y="11937802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Nagios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hệ thống &amp; mạng, khả năng tùy chỉnh cao.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2200275" y="12212092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APM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chuyên giám sát hiệu năng ứng dụng (APM).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2200275" y="12746385"/>
            <a:ext cx="3619500" cy="822871"/>
          </a:xfrm>
          <a:prstGeom prst="roundRect">
            <a:avLst>
              <a:gd name="adj" fmla="val 11575"/>
            </a:avLst>
          </a:prstGeom>
          <a:solidFill>
            <a:srgbClr val="FCE8EC"/>
          </a:solidFill>
          <a:ln/>
        </p:spPr>
      </p:sp>
      <p:sp>
        <p:nvSpPr>
          <p:cNvPr id="54" name="Text 51"/>
          <p:cNvSpPr/>
          <p:nvPr/>
        </p:nvSpPr>
        <p:spPr>
          <a:xfrm>
            <a:off x="2333625" y="12860685"/>
            <a:ext cx="3688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C01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2333625" y="13032135"/>
            <a:ext cx="3453384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2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chạy trên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A2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2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bộ đôi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A2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2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lựa chọn phổ biến nhất.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153150" y="6839843"/>
            <a:ext cx="3048000" cy="2694384"/>
          </a:xfrm>
          <a:prstGeom prst="roundRect">
            <a:avLst>
              <a:gd name="adj" fmla="val 7070"/>
            </a:avLst>
          </a:prstGeom>
          <a:solidFill>
            <a:srgbClr val="1C1B22"/>
          </a:solidFill>
          <a:ln w="9525">
            <a:solidFill>
              <a:srgbClr val="2C2B35"/>
            </a:solidFill>
            <a:prstDash val="solid"/>
          </a:ln>
          <a:effectLst>
            <a:outerShdw sx="100000" sy="100000" kx="0" ky="0" algn="bl" rotWithShape="0" blurRad="571500" dist="228600" dir="5400000">
              <a:srgbClr val="1C1B22">
                <a:alpha val="7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219825" y="6906518"/>
            <a:ext cx="2914650" cy="2561034"/>
          </a:xfrm>
          <a:prstGeom prst="roundRect">
            <a:avLst>
              <a:gd name="adj" fmla="val 5579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83643" y="7135118"/>
            <a:ext cx="278701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150" kern="0" dirty="0">
                <a:solidFill>
                  <a:srgbClr val="8E8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VTI ACADEMY · DEVOPS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6283643" y="7373243"/>
            <a:ext cx="27870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3150" dirty="0"/>
          </a:p>
        </p:txBody>
      </p:sp>
      <p:sp>
        <p:nvSpPr>
          <p:cNvPr id="60" name="Text 57"/>
          <p:cNvSpPr/>
          <p:nvPr/>
        </p:nvSpPr>
        <p:spPr>
          <a:xfrm>
            <a:off x="6283643" y="7868543"/>
            <a:ext cx="27870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B7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 &amp; theo dõi hệ thống IT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7419975" y="8220968"/>
            <a:ext cx="514350" cy="190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E11D4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2" name="Text 59"/>
          <p:cNvSpPr/>
          <p:nvPr/>
        </p:nvSpPr>
        <p:spPr>
          <a:xfrm>
            <a:off x="6410325" y="8411468"/>
            <a:ext cx="2609850" cy="86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13" b="1" dirty="0">
                <a:solidFill>
                  <a:srgbClr val="8E8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dung: </a:t>
            </a:r>
            <a:pPr algn="l" indent="0" marL="0">
              <a:lnSpc>
                <a:spcPct val="160000"/>
              </a:lnSpc>
              <a:buNone/>
            </a:pPr>
            <a:r>
              <a:rPr lang="en-US" sz="1013" dirty="0">
                <a:solidFill>
                  <a:srgbClr val="D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 </a:t>
            </a:r>
            <a:pPr algn="l" indent="0" marL="0">
              <a:lnSpc>
                <a:spcPct val="16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đồng hồ trên ô tô </a:t>
            </a:r>
            <a:pPr algn="l" indent="0" marL="0">
              <a:lnSpc>
                <a:spcPct val="160000"/>
              </a:lnSpc>
              <a:buNone/>
            </a:pPr>
            <a:r>
              <a:rPr lang="en-US" sz="1013" dirty="0">
                <a:solidFill>
                  <a:srgbClr val="D7D4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(tốc độ, xăng, đèn báo) — Monitoring là "bảng điều khiển" của hệ thống, cho bạn biết nó đang khoẻ hay sắp gặp sự cố.</a:t>
            </a:r>
            <a:endParaRPr lang="en-US" sz="1013" dirty="0"/>
          </a:p>
        </p:txBody>
      </p:sp>
      <p:sp>
        <p:nvSpPr>
          <p:cNvPr id="63" name="Shape 60"/>
          <p:cNvSpPr/>
          <p:nvPr/>
        </p:nvSpPr>
        <p:spPr>
          <a:xfrm>
            <a:off x="9296400" y="2396430"/>
            <a:ext cx="4095750" cy="3395960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28263C">
                <a:alpha val="35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9296400" y="5782866"/>
            <a:ext cx="4095750" cy="9525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65" name="Shape 62"/>
          <p:cNvSpPr/>
          <p:nvPr/>
        </p:nvSpPr>
        <p:spPr>
          <a:xfrm>
            <a:off x="9296400" y="2396430"/>
            <a:ext cx="4095750" cy="381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6" name="Shape 63"/>
          <p:cNvSpPr/>
          <p:nvPr/>
        </p:nvSpPr>
        <p:spPr>
          <a:xfrm>
            <a:off x="9296400" y="2396430"/>
            <a:ext cx="9525" cy="3395960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67" name="Shape 64"/>
          <p:cNvSpPr/>
          <p:nvPr/>
        </p:nvSpPr>
        <p:spPr>
          <a:xfrm>
            <a:off x="13382625" y="2396430"/>
            <a:ext cx="9525" cy="3395960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68" name="Shape 65"/>
          <p:cNvSpPr/>
          <p:nvPr/>
        </p:nvSpPr>
        <p:spPr>
          <a:xfrm>
            <a:off x="9534525" y="264408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059669"/>
          </a:solidFill>
          <a:ln/>
        </p:spPr>
      </p:sp>
      <p:sp>
        <p:nvSpPr>
          <p:cNvPr id="69" name="Text 66"/>
          <p:cNvSpPr/>
          <p:nvPr/>
        </p:nvSpPr>
        <p:spPr>
          <a:xfrm>
            <a:off x="9496425" y="264408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972675" y="2703612"/>
            <a:ext cx="173942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ích &amp; Ứng dụng</a:t>
            </a:r>
            <a:endParaRPr lang="en-US" sz="1425" dirty="0"/>
          </a:p>
        </p:txBody>
      </p:sp>
      <p:sp>
        <p:nvSpPr>
          <p:cNvPr id="71" name="Text 68"/>
          <p:cNvSpPr/>
          <p:nvPr/>
        </p:nvSpPr>
        <p:spPr>
          <a:xfrm>
            <a:off x="9534525" y="3101280"/>
            <a:ext cx="3981450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sớm sự cố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cảnh báo khi có nguy cơ lỗi.</a:t>
            </a:r>
            <a:endParaRPr lang="en-US" sz="1088" dirty="0"/>
          </a:p>
        </p:txBody>
      </p:sp>
      <p:sp>
        <p:nvSpPr>
          <p:cNvPr id="72" name="Text 69"/>
          <p:cNvSpPr/>
          <p:nvPr/>
        </p:nvSpPr>
        <p:spPr>
          <a:xfrm>
            <a:off x="9534525" y="3377729"/>
            <a:ext cx="3981450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thời gian khắc phục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tìm nguyên nhân nhanh hơn.</a:t>
            </a:r>
            <a:endParaRPr lang="en-US" sz="1088" dirty="0"/>
          </a:p>
        </p:txBody>
      </p:sp>
      <p:sp>
        <p:nvSpPr>
          <p:cNvPr id="73" name="Text 70"/>
          <p:cNvSpPr/>
          <p:nvPr/>
        </p:nvSpPr>
        <p:spPr>
          <a:xfrm>
            <a:off x="9534525" y="3654177"/>
            <a:ext cx="3981450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tài nguyên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tiết kiệm chi phí, tăng hiệu suất.</a:t>
            </a:r>
            <a:endParaRPr lang="en-US" sz="1088" dirty="0"/>
          </a:p>
        </p:txBody>
      </p:sp>
      <p:sp>
        <p:nvSpPr>
          <p:cNvPr id="74" name="Text 71"/>
          <p:cNvSpPr/>
          <p:nvPr/>
        </p:nvSpPr>
        <p:spPr>
          <a:xfrm>
            <a:off x="9534525" y="3930625"/>
            <a:ext cx="372808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 trải nghiệm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dịch vụ luôn sẵn sàng, phản hồi nhanh.</a:t>
            </a:r>
            <a:endParaRPr lang="en-US" sz="1088" dirty="0"/>
          </a:p>
        </p:txBody>
      </p:sp>
      <p:sp>
        <p:nvSpPr>
          <p:cNvPr id="75" name="Text 72"/>
          <p:cNvSpPr/>
          <p:nvPr/>
        </p:nvSpPr>
        <p:spPr>
          <a:xfrm>
            <a:off x="9534525" y="4407322"/>
            <a:ext cx="3981450" cy="238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Tuân thủ bảo mật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theo dõi hoạt động đáng ngờ.</a:t>
            </a:r>
            <a:endParaRPr lang="en-US" sz="1088" dirty="0"/>
          </a:p>
        </p:txBody>
      </p:sp>
      <p:sp>
        <p:nvSpPr>
          <p:cNvPr id="76" name="Shape 73"/>
          <p:cNvSpPr/>
          <p:nvPr/>
        </p:nvSpPr>
        <p:spPr>
          <a:xfrm>
            <a:off x="9534525" y="4750445"/>
            <a:ext cx="3619500" cy="822871"/>
          </a:xfrm>
          <a:prstGeom prst="roundRect">
            <a:avLst>
              <a:gd name="adj" fmla="val 11575"/>
            </a:avLst>
          </a:prstGeom>
          <a:solidFill>
            <a:srgbClr val="E4F4EE"/>
          </a:solidFill>
          <a:ln/>
        </p:spPr>
      </p:sp>
      <p:sp>
        <p:nvSpPr>
          <p:cNvPr id="77" name="Text 74"/>
          <p:cNvSpPr/>
          <p:nvPr/>
        </p:nvSpPr>
        <p:spPr>
          <a:xfrm>
            <a:off x="9667875" y="4864745"/>
            <a:ext cx="3688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06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</a:t>
            </a:r>
            <a:endParaRPr lang="en-US" sz="825" dirty="0"/>
          </a:p>
        </p:txBody>
      </p:sp>
      <p:sp>
        <p:nvSpPr>
          <p:cNvPr id="78" name="Text 75"/>
          <p:cNvSpPr/>
          <p:nvPr/>
        </p:nvSpPr>
        <p:spPr>
          <a:xfrm>
            <a:off x="9667875" y="5036195"/>
            <a:ext cx="3453384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sáng CPU lên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1F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hệ thống gửi cảnh báo → đội IT xử lý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1F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F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sập.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9296400" y="6325791"/>
            <a:ext cx="4095750" cy="3971553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28263C">
                <a:alpha val="35000"/>
              </a:srgbClr>
            </a:outerShdw>
          </a:effectLst>
        </p:spPr>
      </p:sp>
      <p:sp>
        <p:nvSpPr>
          <p:cNvPr id="80" name="Shape 77"/>
          <p:cNvSpPr/>
          <p:nvPr/>
        </p:nvSpPr>
        <p:spPr>
          <a:xfrm>
            <a:off x="9296400" y="10287819"/>
            <a:ext cx="4095750" cy="9525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81" name="Shape 78"/>
          <p:cNvSpPr/>
          <p:nvPr/>
        </p:nvSpPr>
        <p:spPr>
          <a:xfrm>
            <a:off x="9296400" y="6325791"/>
            <a:ext cx="409575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2" name="Shape 79"/>
          <p:cNvSpPr/>
          <p:nvPr/>
        </p:nvSpPr>
        <p:spPr>
          <a:xfrm>
            <a:off x="9296400" y="6325791"/>
            <a:ext cx="9525" cy="3971553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83" name="Shape 80"/>
          <p:cNvSpPr/>
          <p:nvPr/>
        </p:nvSpPr>
        <p:spPr>
          <a:xfrm>
            <a:off x="13382625" y="6325791"/>
            <a:ext cx="9525" cy="3971553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84" name="Shape 81"/>
          <p:cNvSpPr/>
          <p:nvPr/>
        </p:nvSpPr>
        <p:spPr>
          <a:xfrm>
            <a:off x="9534525" y="6573441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7C3AED"/>
          </a:solidFill>
          <a:ln/>
        </p:spPr>
      </p:sp>
      <p:sp>
        <p:nvSpPr>
          <p:cNvPr id="85" name="Text 82"/>
          <p:cNvSpPr/>
          <p:nvPr/>
        </p:nvSpPr>
        <p:spPr>
          <a:xfrm>
            <a:off x="9496425" y="657344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9972675" y="6621066"/>
            <a:ext cx="28043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thành phần chính </a:t>
            </a:r>
            <a:pPr algn="l" indent="0" marL="0">
              <a:buNone/>
            </a:pPr>
            <a:r>
              <a:rPr lang="en-US" sz="1425" dirty="0">
                <a:solidFill>
                  <a:srgbClr val="8A8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(quy trình)</a:t>
            </a:r>
            <a:endParaRPr lang="en-US" sz="1425" dirty="0"/>
          </a:p>
        </p:txBody>
      </p:sp>
      <p:sp>
        <p:nvSpPr>
          <p:cNvPr id="87" name="Text 84"/>
          <p:cNvSpPr/>
          <p:nvPr/>
        </p:nvSpPr>
        <p:spPr>
          <a:xfrm>
            <a:off x="9534525" y="7030641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thu thập số liệu qua agents, API, logs.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9534525" y="7498259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Storage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lưu trữ dữ liệu vào DB / hệ thống log.</a:t>
            </a:r>
            <a:endParaRPr lang="en-US" sz="1050" dirty="0"/>
          </a:p>
        </p:txBody>
      </p:sp>
      <p:sp>
        <p:nvSpPr>
          <p:cNvPr id="89" name="Text 86"/>
          <p:cNvSpPr/>
          <p:nvPr/>
        </p:nvSpPr>
        <p:spPr>
          <a:xfrm>
            <a:off x="9534525" y="7772549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Visualization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hình ảnh hoá bằng dashboard (Grafana, Kibana).</a:t>
            </a:r>
            <a:endParaRPr lang="en-US" sz="1050" dirty="0"/>
          </a:p>
        </p:txBody>
      </p:sp>
      <p:sp>
        <p:nvSpPr>
          <p:cNvPr id="90" name="Text 87"/>
          <p:cNvSpPr/>
          <p:nvPr/>
        </p:nvSpPr>
        <p:spPr>
          <a:xfrm>
            <a:off x="9534525" y="8240167"/>
            <a:ext cx="372808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Alerting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cảnh báo khi vượt ngưỡng (Email, SMS, Slack).</a:t>
            </a:r>
            <a:endParaRPr lang="en-US" sz="1050" dirty="0"/>
          </a:p>
        </p:txBody>
      </p:sp>
      <p:sp>
        <p:nvSpPr>
          <p:cNvPr id="91" name="Text 88"/>
          <p:cNvSpPr/>
          <p:nvPr/>
        </p:nvSpPr>
        <p:spPr>
          <a:xfrm>
            <a:off x="9534525" y="8707785"/>
            <a:ext cx="39814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Analysis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phân tích nguyên nhân &amp; tối ưu hiệu suất.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9534525" y="9048750"/>
            <a:ext cx="3619500" cy="1029519"/>
          </a:xfrm>
          <a:prstGeom prst="roundRect">
            <a:avLst>
              <a:gd name="adj" fmla="val 9252"/>
            </a:avLst>
          </a:prstGeom>
          <a:solidFill>
            <a:srgbClr val="F1EAFB"/>
          </a:solidFill>
          <a:ln/>
        </p:spPr>
      </p:sp>
      <p:sp>
        <p:nvSpPr>
          <p:cNvPr id="93" name="Text 90"/>
          <p:cNvSpPr/>
          <p:nvPr/>
        </p:nvSpPr>
        <p:spPr>
          <a:xfrm>
            <a:off x="9667875" y="9163050"/>
            <a:ext cx="3688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</a:t>
            </a:r>
            <a:endParaRPr lang="en-US" sz="825" dirty="0"/>
          </a:p>
        </p:txBody>
      </p:sp>
      <p:sp>
        <p:nvSpPr>
          <p:cNvPr id="94" name="Text 91"/>
          <p:cNvSpPr/>
          <p:nvPr/>
        </p:nvSpPr>
        <p:spPr>
          <a:xfrm>
            <a:off x="9667875" y="9334500"/>
            <a:ext cx="3453384" cy="667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CPU → lưu vào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vẽ biểu đồ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CPU&gt;90% gửi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37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đội IT phân tích.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9296400" y="10830744"/>
            <a:ext cx="4095750" cy="3146971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28263C">
                <a:alpha val="35000"/>
              </a:srgbClr>
            </a:outerShdw>
          </a:effectLst>
        </p:spPr>
      </p:sp>
      <p:sp>
        <p:nvSpPr>
          <p:cNvPr id="96" name="Shape 93"/>
          <p:cNvSpPr/>
          <p:nvPr/>
        </p:nvSpPr>
        <p:spPr>
          <a:xfrm>
            <a:off x="9296400" y="13968189"/>
            <a:ext cx="4095750" cy="9525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97" name="Shape 94"/>
          <p:cNvSpPr/>
          <p:nvPr/>
        </p:nvSpPr>
        <p:spPr>
          <a:xfrm>
            <a:off x="9296400" y="10830744"/>
            <a:ext cx="4095750" cy="381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8" name="Shape 95"/>
          <p:cNvSpPr/>
          <p:nvPr/>
        </p:nvSpPr>
        <p:spPr>
          <a:xfrm>
            <a:off x="9296400" y="10830744"/>
            <a:ext cx="9525" cy="3146971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99" name="Shape 96"/>
          <p:cNvSpPr/>
          <p:nvPr/>
        </p:nvSpPr>
        <p:spPr>
          <a:xfrm>
            <a:off x="13382625" y="10830744"/>
            <a:ext cx="9525" cy="3146971"/>
          </a:xfrm>
          <a:prstGeom prst="rect">
            <a:avLst/>
          </a:prstGeom>
          <a:solidFill>
            <a:srgbClr val="ECE9DF"/>
          </a:solidFill>
          <a:ln/>
        </p:spPr>
      </p:sp>
      <p:sp>
        <p:nvSpPr>
          <p:cNvPr id="100" name="Shape 97"/>
          <p:cNvSpPr/>
          <p:nvPr/>
        </p:nvSpPr>
        <p:spPr>
          <a:xfrm>
            <a:off x="9534525" y="11078394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0891B2"/>
          </a:solidFill>
          <a:ln/>
        </p:spPr>
      </p:sp>
      <p:sp>
        <p:nvSpPr>
          <p:cNvPr id="101" name="Text 98"/>
          <p:cNvSpPr/>
          <p:nvPr/>
        </p:nvSpPr>
        <p:spPr>
          <a:xfrm>
            <a:off x="9496425" y="1107839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2" name="Text 99"/>
          <p:cNvSpPr/>
          <p:nvPr/>
        </p:nvSpPr>
        <p:spPr>
          <a:xfrm>
            <a:off x="9972675" y="11137925"/>
            <a:ext cx="95197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</a:t>
            </a:r>
            <a:endParaRPr lang="en-US" sz="1425" dirty="0"/>
          </a:p>
        </p:txBody>
      </p:sp>
      <p:sp>
        <p:nvSpPr>
          <p:cNvPr id="103" name="Text 100"/>
          <p:cNvSpPr/>
          <p:nvPr/>
        </p:nvSpPr>
        <p:spPr>
          <a:xfrm>
            <a:off x="9534525" y="11535594"/>
            <a:ext cx="39814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Zabbix</a:t>
            </a:r>
            <a:endParaRPr lang="en-US" sz="1088" dirty="0"/>
          </a:p>
        </p:txBody>
      </p:sp>
      <p:sp>
        <p:nvSpPr>
          <p:cNvPr id="104" name="Text 101"/>
          <p:cNvSpPr/>
          <p:nvPr/>
        </p:nvSpPr>
        <p:spPr>
          <a:xfrm>
            <a:off x="9534525" y="11721331"/>
            <a:ext cx="372808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trên Ubuntu · giám sát RAM/CPU/Disk (Windows, Ubuntu) · tạo ngưỡng &amp; gửi cảnh báo.</a:t>
            </a:r>
            <a:endParaRPr lang="en-US" sz="1013" dirty="0"/>
          </a:p>
        </p:txBody>
      </p:sp>
      <p:sp>
        <p:nvSpPr>
          <p:cNvPr id="105" name="Text 102"/>
          <p:cNvSpPr/>
          <p:nvPr/>
        </p:nvSpPr>
        <p:spPr>
          <a:xfrm>
            <a:off x="9534525" y="12221394"/>
            <a:ext cx="39814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088" dirty="0"/>
          </a:p>
        </p:txBody>
      </p:sp>
      <p:sp>
        <p:nvSpPr>
          <p:cNvPr id="106" name="Text 103"/>
          <p:cNvSpPr/>
          <p:nvPr/>
        </p:nvSpPr>
        <p:spPr>
          <a:xfrm>
            <a:off x="9534525" y="12407131"/>
            <a:ext cx="372808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3F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trên Ubuntu · giám sát RAM/CPU/Disk · tạo ngưỡng &amp; gửi cảnh báo.</a:t>
            </a:r>
            <a:endParaRPr lang="en-US" sz="1013" dirty="0"/>
          </a:p>
        </p:txBody>
      </p:sp>
      <p:sp>
        <p:nvSpPr>
          <p:cNvPr id="107" name="Shape 104"/>
          <p:cNvSpPr/>
          <p:nvPr/>
        </p:nvSpPr>
        <p:spPr>
          <a:xfrm>
            <a:off x="9534525" y="12935769"/>
            <a:ext cx="3619500" cy="822871"/>
          </a:xfrm>
          <a:prstGeom prst="roundRect">
            <a:avLst>
              <a:gd name="adj" fmla="val 11575"/>
            </a:avLst>
          </a:prstGeom>
          <a:solidFill>
            <a:srgbClr val="E0F3F8"/>
          </a:solidFill>
          <a:ln/>
        </p:spPr>
      </p:sp>
      <p:sp>
        <p:nvSpPr>
          <p:cNvPr id="108" name="Text 105"/>
          <p:cNvSpPr/>
          <p:nvPr/>
        </p:nvSpPr>
        <p:spPr>
          <a:xfrm>
            <a:off x="9667875" y="13050069"/>
            <a:ext cx="3688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MINH HOẠ</a:t>
            </a:r>
            <a:endParaRPr lang="en-US" sz="825" dirty="0"/>
          </a:p>
        </p:txBody>
      </p:sp>
      <p:sp>
        <p:nvSpPr>
          <p:cNvPr id="109" name="Text 106"/>
          <p:cNvSpPr/>
          <p:nvPr/>
        </p:nvSpPr>
        <p:spPr>
          <a:xfrm>
            <a:off x="9667875" y="13221519"/>
            <a:ext cx="3453384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7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ngưỡng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17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&gt; 80%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7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khi vượt, Zabbix tự động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17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email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7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quản trị viên.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2026-06-18T07:44:50Z</dcterms:created>
  <dcterms:modified xsi:type="dcterms:W3CDTF">2026-06-18T07:44:50Z</dcterms:modified>
</cp:coreProperties>
</file>